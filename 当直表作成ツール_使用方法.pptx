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8bes4.github.io/shift-prompt-generato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4A4D2B7-E1F3-4738-BE61-37FDB9B4CF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E9CBBB6-AF1F-4CCF-AE53-AAC868CC677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72800" cy="579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D78642-A533-4AEF-8D37-FD5DF6DF36A9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428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当直表作成ツール 使用方法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FC095C-3BF8-41A1-99B4-A31B4DC0A0AA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7429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希望シフトを集めて、AI用プロンプトを作成する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61F626-E1FB-413E-9757-7CB8EB014F70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7810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メンバーから集めた希望をもとに、当直表作成に必要な条件を整理したプロンプトを生成します。完成品は、表形式のテキストをそのまま納品すれば大丈夫です。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785064-E210-43E3-B6F4-0F52D5166691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8763000" cy="895350"/>
          </a:xfrm>
          <a:prstGeom prst="rect">
            <a:avLst/>
          </a:prstGeom>
          <a:solidFill>
            <a:srgbClr val="E8F3F6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5DCED7-1A61-4BF1-B25A-B623B0129E90}"/>
              </a:ext>
            </a:extLst>
          </p:cNvPr>
          <p:cNvSpPr>
            <a:spLocks noGrp="1"/>
          </p:cNvSpPr>
          <p:nvPr/>
        </p:nvSpPr>
        <p:spPr>
          <a:xfrm>
            <a:off x="1181100" y="4438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ツールURL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847762-901C-4561-BA9F-1C1B1042A26F}"/>
              </a:ext>
            </a:extLst>
          </p:cNvPr>
          <p:cNvSpPr>
            <a:spLocks noGrp="1"/>
          </p:cNvSpPr>
          <p:nvPr/>
        </p:nvSpPr>
        <p:spPr>
          <a:xfrm>
            <a:off x="1181100" y="4724400"/>
            <a:ext cx="781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55E75"/>
                </a:solidFill>
                <a:latin typeface="Aptos"/>
                <a:ea typeface="Aptos"/>
                <a:cs typeface="Aptos"/>
                <a:hlinkClick r:id="rId3"/>
              </a:rPr>
              <a:t>https://ar8bes4.github.io/shift-prompt-generator/</a:t>
            </a:r>
            <a:endParaRPr sz="1650" b="1" dirty="0">
              <a:solidFill>
                <a:srgbClr val="155E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F9AAE6-75FE-4FC3-8182-93E33DC38AB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対象: 当直表作成担当者、希望シフトを提出するメンバー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CAEA18-7699-4239-BF1C-7267E667304D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当直表作成ツール 使用方法 / 1 / 5</a:t>
            </a:r>
          </a:p>
        </p:txBody>
      </p:sp>
    </p:spTree>
    <p:extLst>
      <p:ext uri="{BB962C8B-B14F-4D97-AF65-F5344CB8AC3E}">
        <p14:creationId xmlns:p14="http://schemas.microsoft.com/office/powerpoint/2010/main" val="77744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0856909-04E9-4795-BA82-800D87ADF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7AFA09-1B80-4D7D-BF24-08EC5BEE4AB5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1125200" cy="594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5802B11-BAEF-43E0-A8B8-4211DB702B15}"/>
              </a:ext>
            </a:extLst>
          </p:cNvPr>
          <p:cNvSpPr>
            <a:spLocks noGrp="1"/>
          </p:cNvSpPr>
          <p:nvPr/>
        </p:nvSpPr>
        <p:spPr>
          <a:xfrm>
            <a:off x="838200" y="704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全体像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BEED52-F4D4-435E-862E-070B5DB39E32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このツールで行うこと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566645-D049-463B-8A2E-861D1BD65A1E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572000" cy="1238250"/>
          </a:xfrm>
          <a:prstGeom prst="rect">
            <a:avLst/>
          </a:prstGeom>
          <a:solidFill>
            <a:srgbClr val="FBFCFE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5A3195-70E3-48C7-95B6-AEC262392DB8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4152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希望を整理する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1215D29-A098-4872-9DE9-F140307DF51A}"/>
              </a:ext>
            </a:extLst>
          </p:cNvPr>
          <p:cNvSpPr>
            <a:spLocks noGrp="1"/>
          </p:cNvSpPr>
          <p:nvPr/>
        </p:nvSpPr>
        <p:spPr>
          <a:xfrm>
            <a:off x="1123950" y="2819400"/>
            <a:ext cx="4152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各メンバーの不可日、希望日、避けたい日などを入力します。自然な書き方のメモでも扱えます。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F0DC14-FE80-4AE3-A96A-43633FD7672C}"/>
              </a:ext>
            </a:extLst>
          </p:cNvPr>
          <p:cNvSpPr>
            <a:spLocks noGrp="1"/>
          </p:cNvSpPr>
          <p:nvPr/>
        </p:nvSpPr>
        <p:spPr>
          <a:xfrm>
            <a:off x="5848350" y="2266950"/>
            <a:ext cx="4572000" cy="1238250"/>
          </a:xfrm>
          <a:prstGeom prst="rect">
            <a:avLst/>
          </a:prstGeom>
          <a:solidFill>
            <a:srgbClr val="FBFCFE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7649A2-6BCA-497A-862D-1739B43B9A01}"/>
              </a:ext>
            </a:extLst>
          </p:cNvPr>
          <p:cNvSpPr>
            <a:spLocks noGrp="1"/>
          </p:cNvSpPr>
          <p:nvPr/>
        </p:nvSpPr>
        <p:spPr>
          <a:xfrm>
            <a:off x="6057900" y="2438400"/>
            <a:ext cx="4152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作成期間を指定する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B8616FA-4259-4AD1-AE6A-9E99602B9483}"/>
              </a:ext>
            </a:extLst>
          </p:cNvPr>
          <p:cNvSpPr>
            <a:spLocks noGrp="1"/>
          </p:cNvSpPr>
          <p:nvPr/>
        </p:nvSpPr>
        <p:spPr>
          <a:xfrm>
            <a:off x="6057900" y="2819400"/>
            <a:ext cx="4152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年・月、または「5/7-5/31」のような自由入力で、当直表の対象期間を指定します。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1F697D-B904-430E-A3A1-C35FF2FF457C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4572000" cy="1238250"/>
          </a:xfrm>
          <a:prstGeom prst="rect">
            <a:avLst/>
          </a:prstGeom>
          <a:solidFill>
            <a:srgbClr val="FBFCFE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9401EC0-22E6-4F2B-9540-162A2248A28C}"/>
              </a:ext>
            </a:extLst>
          </p:cNvPr>
          <p:cNvSpPr>
            <a:spLocks noGrp="1"/>
          </p:cNvSpPr>
          <p:nvPr/>
        </p:nvSpPr>
        <p:spPr>
          <a:xfrm>
            <a:off x="1123950" y="3905250"/>
            <a:ext cx="4152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ルールを確認する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B3B724-6F74-4462-A72B-1630082AB95E}"/>
              </a:ext>
            </a:extLst>
          </p:cNvPr>
          <p:cNvSpPr>
            <a:spLocks noGrp="1"/>
          </p:cNvSpPr>
          <p:nvPr/>
        </p:nvSpPr>
        <p:spPr>
          <a:xfrm>
            <a:off x="1123950" y="4286250"/>
            <a:ext cx="4152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平日・休日の扱い、当直間隔、スキルバランスなど、当直表作成時のルールを入力・調整します。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2781BA2-2636-4626-9347-6A0BB5D11F05}"/>
              </a:ext>
            </a:extLst>
          </p:cNvPr>
          <p:cNvSpPr>
            <a:spLocks noGrp="1"/>
          </p:cNvSpPr>
          <p:nvPr/>
        </p:nvSpPr>
        <p:spPr>
          <a:xfrm>
            <a:off x="5848350" y="3733800"/>
            <a:ext cx="4572000" cy="1238250"/>
          </a:xfrm>
          <a:prstGeom prst="rect">
            <a:avLst/>
          </a:prstGeom>
          <a:solidFill>
            <a:srgbClr val="FBFCFE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A7EDE7B-DD5F-4519-98C6-B56E72805993}"/>
              </a:ext>
            </a:extLst>
          </p:cNvPr>
          <p:cNvSpPr>
            <a:spLocks noGrp="1"/>
          </p:cNvSpPr>
          <p:nvPr/>
        </p:nvSpPr>
        <p:spPr>
          <a:xfrm>
            <a:off x="6057900" y="3905250"/>
            <a:ext cx="4152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プロンプトをコピーする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BC33AC4-1B17-4FB3-A09A-FC636568F88F}"/>
              </a:ext>
            </a:extLst>
          </p:cNvPr>
          <p:cNvSpPr>
            <a:spLocks noGrp="1"/>
          </p:cNvSpPr>
          <p:nvPr/>
        </p:nvSpPr>
        <p:spPr>
          <a:xfrm>
            <a:off x="6057900" y="4286250"/>
            <a:ext cx="4152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生成されたプロンプトをコピーし、GeminiなどのAIに貼り付けて当直表を作成します。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E074C95-6780-4E66-B128-04E196F073DA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当直表作成ツール 使用方法 / 2 / 5</a:t>
            </a:r>
          </a:p>
        </p:txBody>
      </p:sp>
    </p:spTree>
    <p:extLst>
      <p:ext uri="{BB962C8B-B14F-4D97-AF65-F5344CB8AC3E}">
        <p14:creationId xmlns:p14="http://schemas.microsoft.com/office/powerpoint/2010/main" val="114860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907F29A-DFB1-4E95-961E-2702E0D55D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015342-A0C8-4B53-A2FB-E26697702EF1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1125200" cy="594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F0D040D-C6A8-4A4E-A166-7C0E8625F564}"/>
              </a:ext>
            </a:extLst>
          </p:cNvPr>
          <p:cNvSpPr>
            <a:spLocks noGrp="1"/>
          </p:cNvSpPr>
          <p:nvPr/>
        </p:nvSpPr>
        <p:spPr>
          <a:xfrm>
            <a:off x="838200" y="704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メンバーへの案内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AC15F3-BC64-4E14-8EC1-6DD43CD9B125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希望聴取は当直発表後1週間を目処に回収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4A8B08-F5E9-4F6D-8A90-5D327329E7F4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095500" cy="55245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472AA48-6945-430E-A194-B550311086F4}"/>
              </a:ext>
            </a:extLst>
          </p:cNvPr>
          <p:cNvSpPr>
            <a:spLocks noGrp="1"/>
          </p:cNvSpPr>
          <p:nvPr/>
        </p:nvSpPr>
        <p:spPr>
          <a:xfrm>
            <a:off x="3009900" y="2190750"/>
            <a:ext cx="742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7EA0165-5BDC-4D53-9774-3F5792655574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回収タイミング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240DE3E-AF16-4DC1-9A3C-80CB005B8EFD}"/>
              </a:ext>
            </a:extLst>
          </p:cNvPr>
          <p:cNvSpPr>
            <a:spLocks noGrp="1"/>
          </p:cNvSpPr>
          <p:nvPr/>
        </p:nvSpPr>
        <p:spPr>
          <a:xfrm>
            <a:off x="3181350" y="232410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当直発表後、1週間を目処に各メンバーへ希望提出を依頼します。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A28B5C-7B02-467E-85F8-DFB5FF17208C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095500" cy="68580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FFC9FF-9881-4224-8FFE-1D9F10DE6F17}"/>
              </a:ext>
            </a:extLst>
          </p:cNvPr>
          <p:cNvSpPr>
            <a:spLocks noGrp="1"/>
          </p:cNvSpPr>
          <p:nvPr/>
        </p:nvSpPr>
        <p:spPr>
          <a:xfrm>
            <a:off x="3009900" y="2743200"/>
            <a:ext cx="7429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CDE7BB3-247C-45AE-8568-C78CA2EA1FA9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提出してほしい内容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C54437-C736-4145-9819-01EE097F8118}"/>
              </a:ext>
            </a:extLst>
          </p:cNvPr>
          <p:cNvSpPr>
            <a:spLocks noGrp="1"/>
          </p:cNvSpPr>
          <p:nvPr/>
        </p:nvSpPr>
        <p:spPr>
          <a:xfrm>
            <a:off x="3181350" y="2876550"/>
            <a:ext cx="7086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不可日、希望日、できれば避けたい日、連続勤務に関する希望、その他配慮が必要な予定。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323D345-E9F7-454D-85A4-2822F4C78509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095500" cy="55245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4A5778E-A4FB-4777-9F64-097284238086}"/>
              </a:ext>
            </a:extLst>
          </p:cNvPr>
          <p:cNvSpPr>
            <a:spLocks noGrp="1"/>
          </p:cNvSpPr>
          <p:nvPr/>
        </p:nvSpPr>
        <p:spPr>
          <a:xfrm>
            <a:off x="3009900" y="3429000"/>
            <a:ext cx="742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DF0E0BF-AA93-4B74-9351-81B0F5DE4ECA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提出形式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CAF6DB8-18ED-4797-BF9B-2ED29C46586B}"/>
              </a:ext>
            </a:extLst>
          </p:cNvPr>
          <p:cNvSpPr>
            <a:spLocks noGrp="1"/>
          </p:cNvSpPr>
          <p:nvPr/>
        </p:nvSpPr>
        <p:spPr>
          <a:xfrm>
            <a:off x="3181350" y="356235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箇条書きやメモ形式で問題ありません。担当者がツールに貼り付けて整理します。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60AC37-05F5-43A5-8CFD-04E255ECF871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2095500" cy="68580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BC9B2F6-4493-4CB2-88B6-161C5826F826}"/>
              </a:ext>
            </a:extLst>
          </p:cNvPr>
          <p:cNvSpPr>
            <a:spLocks noGrp="1"/>
          </p:cNvSpPr>
          <p:nvPr/>
        </p:nvSpPr>
        <p:spPr>
          <a:xfrm>
            <a:off x="3009900" y="3981450"/>
            <a:ext cx="7429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FA4DFE3-01D2-43E6-BDA9-0920E6192FF9}"/>
              </a:ext>
            </a:extLst>
          </p:cNvPr>
          <p:cNvSpPr>
            <a:spLocks noGrp="1"/>
          </p:cNvSpPr>
          <p:nvPr/>
        </p:nvSpPr>
        <p:spPr>
          <a:xfrm>
            <a:off x="1066800" y="413385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注意点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D59EDAA-6461-4858-A18D-4BC54EA03649}"/>
              </a:ext>
            </a:extLst>
          </p:cNvPr>
          <p:cNvSpPr>
            <a:spLocks noGrp="1"/>
          </p:cNvSpPr>
          <p:nvPr/>
        </p:nvSpPr>
        <p:spPr>
          <a:xfrm>
            <a:off x="3181350" y="4114800"/>
            <a:ext cx="7086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「絶対不可」と「できれば避けたい」は分けて書いてもらうと、後の調整がしやすくなります。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ACF8193-FE48-47C3-8C9A-C4B828B6F04B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9505950" cy="8572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A8D2B42-B8C9-471F-92DC-ADAC84F7A7A8}"/>
              </a:ext>
            </a:extLst>
          </p:cNvPr>
          <p:cNvSpPr>
            <a:spLocks noGrp="1"/>
          </p:cNvSpPr>
          <p:nvPr/>
        </p:nvSpPr>
        <p:spPr>
          <a:xfrm>
            <a:off x="1143000" y="5105400"/>
            <a:ext cx="8953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提出例:</a:t>
            </a:r>
          </a:p>
          <a:p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山田  - 不可: 5/2, 5/3, 5/10  - 希望: 5/15  - できれば避けたい: 5/20以降の連続当番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83594EE-5C26-417B-B32E-EF4EC459E729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当直表作成ツール 使用方法 / 3 / 5</a:t>
            </a:r>
          </a:p>
        </p:txBody>
      </p:sp>
    </p:spTree>
    <p:extLst>
      <p:ext uri="{BB962C8B-B14F-4D97-AF65-F5344CB8AC3E}">
        <p14:creationId xmlns:p14="http://schemas.microsoft.com/office/powerpoint/2010/main" val="148119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5F27B82-EBB5-48FF-8065-1F8123E129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51AC3E-58C3-473C-9B45-1CD3495AF6B9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1125200" cy="594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6ABACD2-2331-4D4C-916E-FF5F32CA5BB4}"/>
              </a:ext>
            </a:extLst>
          </p:cNvPr>
          <p:cNvSpPr>
            <a:spLocks noGrp="1"/>
          </p:cNvSpPr>
          <p:nvPr/>
        </p:nvSpPr>
        <p:spPr>
          <a:xfrm>
            <a:off x="838200" y="704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作成担当者の操作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BCEB98-15D6-4C0E-9BC5-BC460A88A21D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ツールでの作業手順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A9C55D-E4B0-4707-AF30-2FD5601C3227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457200" cy="457200"/>
          </a:xfrm>
          <a:prstGeom prst="rect">
            <a:avLst/>
          </a:prstGeom>
          <a:solidFill>
            <a:srgbClr val="1F7A8C"/>
          </a:solidFill>
          <a:ln w="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A08D84-235A-414C-B429-2B92BD0BE02A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9F1C28-E1F5-4D7F-9D18-4AF7E83B8B09}"/>
              </a:ext>
            </a:extLst>
          </p:cNvPr>
          <p:cNvSpPr>
            <a:spLocks noGrp="1"/>
          </p:cNvSpPr>
          <p:nvPr/>
        </p:nvSpPr>
        <p:spPr>
          <a:xfrm>
            <a:off x="1676400" y="2247900"/>
            <a:ext cx="870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GitHub </a:t>
            </a:r>
            <a:r>
              <a:rPr sz="1575" b="1" dirty="0" err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PagesのURLを開く</a:t>
            </a:r>
            <a:endParaRPr sz="1575" b="1" dirty="0">
              <a:solidFill>
                <a:srgbClr val="1F29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8613585-9277-4365-967F-1C03D3A0B495}"/>
              </a:ext>
            </a:extLst>
          </p:cNvPr>
          <p:cNvSpPr>
            <a:spLocks noGrp="1"/>
          </p:cNvSpPr>
          <p:nvPr/>
        </p:nvSpPr>
        <p:spPr>
          <a:xfrm>
            <a:off x="1676400" y="2590800"/>
            <a:ext cx="8705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ブラウザでツールURLを開きます。インストールは不要です。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C9193D3-6268-45D7-B8CA-8DD82E114B1A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457200" cy="457200"/>
          </a:xfrm>
          <a:prstGeom prst="rect">
            <a:avLst/>
          </a:prstGeom>
          <a:solidFill>
            <a:srgbClr val="1F7A8C"/>
          </a:solidFill>
          <a:ln w="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77A6814-B1F3-4F12-9108-BCBD95859F9A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1063140-149E-4BA0-A625-4FE93EF8224E}"/>
              </a:ext>
            </a:extLst>
          </p:cNvPr>
          <p:cNvSpPr>
            <a:spLocks noGrp="1"/>
          </p:cNvSpPr>
          <p:nvPr/>
        </p:nvSpPr>
        <p:spPr>
          <a:xfrm>
            <a:off x="1676400" y="3105150"/>
            <a:ext cx="870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作成対象期間を指定する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9C5DCF-FD7F-478A-8AB7-CE865F66A783}"/>
              </a:ext>
            </a:extLst>
          </p:cNvPr>
          <p:cNvSpPr>
            <a:spLocks noGrp="1"/>
          </p:cNvSpPr>
          <p:nvPr/>
        </p:nvSpPr>
        <p:spPr>
          <a:xfrm>
            <a:off x="1676400" y="3448050"/>
            <a:ext cx="8705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年・月を選ぶか、自由入力欄に対象期間を入力します。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9E1CBA2-9FA1-4042-8F6E-B2E2A34F5702}"/>
              </a:ext>
            </a:extLst>
          </p:cNvPr>
          <p:cNvSpPr>
            <a:spLocks noGrp="1"/>
          </p:cNvSpPr>
          <p:nvPr/>
        </p:nvSpPr>
        <p:spPr>
          <a:xfrm>
            <a:off x="1047750" y="3981450"/>
            <a:ext cx="457200" cy="457200"/>
          </a:xfrm>
          <a:prstGeom prst="rect">
            <a:avLst/>
          </a:prstGeom>
          <a:solidFill>
            <a:srgbClr val="1F7A8C"/>
          </a:solidFill>
          <a:ln w="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CC5D4BF-BFBD-4E81-8CC3-08E89B87F809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8A4287B-8E58-41D3-8E87-1BE2EF080EA3}"/>
              </a:ext>
            </a:extLst>
          </p:cNvPr>
          <p:cNvSpPr>
            <a:spLocks noGrp="1"/>
          </p:cNvSpPr>
          <p:nvPr/>
        </p:nvSpPr>
        <p:spPr>
          <a:xfrm>
            <a:off x="1676400" y="3962400"/>
            <a:ext cx="870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各メンバーの希望を入力する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926D8A5-C191-45CC-9FA4-9518587FE11A}"/>
              </a:ext>
            </a:extLst>
          </p:cNvPr>
          <p:cNvSpPr>
            <a:spLocks noGrp="1"/>
          </p:cNvSpPr>
          <p:nvPr/>
        </p:nvSpPr>
        <p:spPr>
          <a:xfrm>
            <a:off x="1676400" y="4305300"/>
            <a:ext cx="8705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氏名と希望内容を入力します。不可日や希望日が分かるように貼り付けます。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A8F9D6E-8123-4ABD-AFCA-F8574EABC658}"/>
              </a:ext>
            </a:extLst>
          </p:cNvPr>
          <p:cNvSpPr>
            <a:spLocks noGrp="1"/>
          </p:cNvSpPr>
          <p:nvPr/>
        </p:nvSpPr>
        <p:spPr>
          <a:xfrm>
            <a:off x="1047750" y="4838700"/>
            <a:ext cx="457200" cy="457200"/>
          </a:xfrm>
          <a:prstGeom prst="rect">
            <a:avLst/>
          </a:prstGeom>
          <a:solidFill>
            <a:srgbClr val="1F7A8C"/>
          </a:solidFill>
          <a:ln w="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9093E03-6B7A-49DB-8341-46706A495700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54E1F3-4E02-495B-8753-33A19C1B21A2}"/>
              </a:ext>
            </a:extLst>
          </p:cNvPr>
          <p:cNvSpPr>
            <a:spLocks noGrp="1"/>
          </p:cNvSpPr>
          <p:nvPr/>
        </p:nvSpPr>
        <p:spPr>
          <a:xfrm>
            <a:off x="1676400" y="4819650"/>
            <a:ext cx="870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生成されたプロンプトをコピーする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0750BDA-B26F-4E62-8803-09202BADD15C}"/>
              </a:ext>
            </a:extLst>
          </p:cNvPr>
          <p:cNvSpPr>
            <a:spLocks noGrp="1"/>
          </p:cNvSpPr>
          <p:nvPr/>
        </p:nvSpPr>
        <p:spPr>
          <a:xfrm>
            <a:off x="1676400" y="5162550"/>
            <a:ext cx="8705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右側に表示されるプロンプトをコピーし、AIに貼り付けて当直表作成を依頼します。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65C0F9C-E1D0-4910-8C81-3E2D629A0CDB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当直表作成ツール 使用方法 / 4 / 5</a:t>
            </a:r>
          </a:p>
        </p:txBody>
      </p:sp>
    </p:spTree>
    <p:extLst>
      <p:ext uri="{BB962C8B-B14F-4D97-AF65-F5344CB8AC3E}">
        <p14:creationId xmlns:p14="http://schemas.microsoft.com/office/powerpoint/2010/main" val="108110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120600E-E684-4FF3-99B8-E332B4D15B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8221A8-C010-4E32-B91F-16A34DC8C316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1125200" cy="594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A0AA53-6C0E-407E-8416-AAC6A960CA9B}"/>
              </a:ext>
            </a:extLst>
          </p:cNvPr>
          <p:cNvSpPr>
            <a:spLocks noGrp="1"/>
          </p:cNvSpPr>
          <p:nvPr/>
        </p:nvSpPr>
        <p:spPr>
          <a:xfrm>
            <a:off x="838200" y="704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納品形式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FD15E4-797D-4CC1-A54F-B359C51FB033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完成品は表形式のテキストで納品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0F6D37-9547-42A5-992F-B991108B8BD9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095500" cy="55245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E356800-F863-459A-8689-0A82A389D9BC}"/>
              </a:ext>
            </a:extLst>
          </p:cNvPr>
          <p:cNvSpPr>
            <a:spLocks noGrp="1"/>
          </p:cNvSpPr>
          <p:nvPr/>
        </p:nvSpPr>
        <p:spPr>
          <a:xfrm>
            <a:off x="3009900" y="2190750"/>
            <a:ext cx="742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9F33AD-B7E6-44B7-B68E-B7D0D0EF23C1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納品物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F833BF-D712-4773-B54F-57D7CFA4AD6F}"/>
              </a:ext>
            </a:extLst>
          </p:cNvPr>
          <p:cNvSpPr>
            <a:spLocks noGrp="1"/>
          </p:cNvSpPr>
          <p:nvPr/>
        </p:nvSpPr>
        <p:spPr>
          <a:xfrm>
            <a:off x="3181350" y="232410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日付、曜日、担当者、付記が分かる当直表。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D58443E-EA7C-40F1-9087-487A732CBD56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095500" cy="55245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CAC9C7-50DA-471D-9ECE-6F5385B4EF1C}"/>
              </a:ext>
            </a:extLst>
          </p:cNvPr>
          <p:cNvSpPr>
            <a:spLocks noGrp="1"/>
          </p:cNvSpPr>
          <p:nvPr/>
        </p:nvSpPr>
        <p:spPr>
          <a:xfrm>
            <a:off x="3009900" y="2743200"/>
            <a:ext cx="742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0C51DB9-A9B1-4DF0-804A-FBF5A1881FF0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形式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0BD844-7682-492F-A28B-156F8A8BF757}"/>
              </a:ext>
            </a:extLst>
          </p:cNvPr>
          <p:cNvSpPr>
            <a:spLocks noGrp="1"/>
          </p:cNvSpPr>
          <p:nvPr/>
        </p:nvSpPr>
        <p:spPr>
          <a:xfrm>
            <a:off x="3181350" y="287655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Markdownなどの表形式テキストをそのまま提出すれば問題ありません。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4E73D38-5FFC-4AD5-8ED1-A73C8DE47A8F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2095500" cy="68580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D3CF17-7D26-4B73-AD00-008DBF126C33}"/>
              </a:ext>
            </a:extLst>
          </p:cNvPr>
          <p:cNvSpPr>
            <a:spLocks noGrp="1"/>
          </p:cNvSpPr>
          <p:nvPr/>
        </p:nvSpPr>
        <p:spPr>
          <a:xfrm>
            <a:off x="3009900" y="3295650"/>
            <a:ext cx="7429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232F350-41ED-441C-B9E8-00B9DEFB8361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確認ポイント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6CDB24-0FEA-45A1-A217-840DD20EDC2C}"/>
              </a:ext>
            </a:extLst>
          </p:cNvPr>
          <p:cNvSpPr>
            <a:spLocks noGrp="1"/>
          </p:cNvSpPr>
          <p:nvPr/>
        </p:nvSpPr>
        <p:spPr>
          <a:xfrm>
            <a:off x="3181350" y="3429000"/>
            <a:ext cx="7086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不可日の割当がないこと、休日・平日のルールが守られていること、担当の偏りが大きすぎないこと。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3137ADE-8F37-4326-8DCD-95A7132F1FE2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2095500" cy="552450"/>
          </a:xfrm>
          <a:prstGeom prst="rect">
            <a:avLst/>
          </a:prstGeom>
          <a:solidFill>
            <a:srgbClr val="E8F3F6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8139BDB-BFC5-442D-8E30-D5A8FEB8CF25}"/>
              </a:ext>
            </a:extLst>
          </p:cNvPr>
          <p:cNvSpPr>
            <a:spLocks noGrp="1"/>
          </p:cNvSpPr>
          <p:nvPr/>
        </p:nvSpPr>
        <p:spPr>
          <a:xfrm>
            <a:off x="3009900" y="3981450"/>
            <a:ext cx="742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0C11932-C8BF-4153-A433-0ED4D7AEA893}"/>
              </a:ext>
            </a:extLst>
          </p:cNvPr>
          <p:cNvSpPr>
            <a:spLocks noGrp="1"/>
          </p:cNvSpPr>
          <p:nvPr/>
        </p:nvSpPr>
        <p:spPr>
          <a:xfrm>
            <a:off x="1066800" y="413385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補足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40F6685-3423-4FD4-8D74-BE2F09246982}"/>
              </a:ext>
            </a:extLst>
          </p:cNvPr>
          <p:cNvSpPr>
            <a:spLocks noGrp="1"/>
          </p:cNvSpPr>
          <p:nvPr/>
        </p:nvSpPr>
        <p:spPr>
          <a:xfrm>
            <a:off x="3181350" y="4114800"/>
            <a:ext cx="708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AIの出力は最終決定ではなく、担当者が確認してから共有します。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877A7C8-A359-4387-98F8-A7F518527E04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9505950" cy="91440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65EDCA9-1B94-4C59-844E-8E85C6BADBA2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8953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納品イメージ:</a:t>
            </a:r>
          </a:p>
          <a:p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| 日付 | 曜日 | 担当者 | 付記 |</a:t>
            </a:r>
          </a:p>
          <a:p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| 5/7 | 水 | 山田 |  |  /  | 5/8 | 木 | 佐藤 | ICU当直あり |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924BB5C-7942-4C52-8F50-AA46B4FF9584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7"/>
                </a:solidFill>
                <a:latin typeface="Aptos"/>
                <a:ea typeface="Aptos"/>
                <a:cs typeface="Aptos"/>
              </a:rPr>
              <a:t>当直表作成ツール 使用方法 / 5 / 5</a:t>
            </a:r>
          </a:p>
        </p:txBody>
      </p:sp>
    </p:spTree>
    <p:extLst>
      <p:ext uri="{BB962C8B-B14F-4D97-AF65-F5344CB8AC3E}">
        <p14:creationId xmlns:p14="http://schemas.microsoft.com/office/powerpoint/2010/main" val="7399832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DocSecurity>0</DocSecurity>
  <PresentationFormat>ワイド画面</PresentationFormat>
  <Paragraphs>60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Mono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大地 新村</cp:lastModifiedBy>
  <cp:revision>1</cp:revision>
  <dcterms:created xsi:type="dcterms:W3CDTF">2026-06-01T14:02:03Z</dcterms:created>
  <dcterms:modified xsi:type="dcterms:W3CDTF">2026-06-01T14:04:37Z</dcterms:modified>
</cp:coreProperties>
</file>